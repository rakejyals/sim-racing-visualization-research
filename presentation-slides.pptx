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BZjM+oDWDbsyx4JG/tFDZb52X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522b69568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522b69568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522b69568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522b69568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522b69568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522b69568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522b69568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522b69568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522b69568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522b69568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Full Signature">
  <p:cSld name="Cover with Full Signatur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/>
          <p:nvPr/>
        </p:nvSpPr>
        <p:spPr>
          <a:xfrm>
            <a:off x="0" y="5176907"/>
            <a:ext cx="12192000" cy="1709696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0"/>
          <p:cNvSpPr txBox="1"/>
          <p:nvPr>
            <p:ph type="title"/>
          </p:nvPr>
        </p:nvSpPr>
        <p:spPr>
          <a:xfrm>
            <a:off x="609600" y="1480134"/>
            <a:ext cx="10972800" cy="2533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" type="body"/>
          </p:nvPr>
        </p:nvSpPr>
        <p:spPr>
          <a:xfrm>
            <a:off x="609600" y="418110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1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B94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B94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9pPr>
          </a:lstStyle>
          <a:p/>
        </p:txBody>
      </p:sp>
      <p:pic>
        <p:nvPicPr>
          <p:cNvPr id="17" name="Google Shape;1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22916" y="3993781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0"/>
          <p:cNvSpPr txBox="1"/>
          <p:nvPr>
            <p:ph idx="2" type="body"/>
          </p:nvPr>
        </p:nvSpPr>
        <p:spPr>
          <a:xfrm>
            <a:off x="617219" y="512937"/>
            <a:ext cx="542539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B94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B94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9pPr>
          </a:lstStyle>
          <a:p/>
        </p:txBody>
      </p:sp>
      <p:pic>
        <p:nvPicPr>
          <p:cNvPr id="19" name="Google Shape;19;p30"/>
          <p:cNvPicPr preferRelativeResize="0"/>
          <p:nvPr/>
        </p:nvPicPr>
        <p:blipFill rotWithShape="1">
          <a:blip r:embed="rId3">
            <a:alphaModFix/>
          </a:blip>
          <a:srcRect b="-10002" l="285" r="-146" t="50001"/>
          <a:stretch/>
        </p:blipFill>
        <p:spPr>
          <a:xfrm>
            <a:off x="8229600" y="-7749"/>
            <a:ext cx="466344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University of North Carolina at Chapel Hill signature" id="20" name="Google Shape;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5458464"/>
            <a:ext cx="3678621" cy="114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">
          <p15:clr>
            <a:srgbClr val="FBAE40"/>
          </p15:clr>
        </p15:guide>
        <p15:guide id="2" pos="729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ogo Only">
  <p:cSld name="Cover Logo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/>
          <p:nvPr/>
        </p:nvSpPr>
        <p:spPr>
          <a:xfrm>
            <a:off x="9713902" y="5270360"/>
            <a:ext cx="2478097" cy="15876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1"/>
          <p:cNvSpPr txBox="1"/>
          <p:nvPr>
            <p:ph type="title"/>
          </p:nvPr>
        </p:nvSpPr>
        <p:spPr>
          <a:xfrm>
            <a:off x="600290" y="685800"/>
            <a:ext cx="8661354" cy="35042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600289" y="4367713"/>
            <a:ext cx="8661355" cy="1535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B94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B94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9pPr>
          </a:lstStyle>
          <a:p/>
        </p:txBody>
      </p:sp>
      <p:pic>
        <p:nvPicPr>
          <p:cNvPr id="25" name="Google Shape;2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22916" y="3993781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1"/>
          <p:cNvSpPr/>
          <p:nvPr/>
        </p:nvSpPr>
        <p:spPr>
          <a:xfrm>
            <a:off x="0" y="1"/>
            <a:ext cx="303202" cy="3902044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0019" y="5594299"/>
            <a:ext cx="117043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9398717" y="1740305"/>
            <a:ext cx="3216245" cy="110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Photo">
  <p:cSld name="Cover with Pho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/>
          <p:nvPr/>
        </p:nvSpPr>
        <p:spPr>
          <a:xfrm>
            <a:off x="9713902" y="0"/>
            <a:ext cx="2476500" cy="685799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2"/>
          <p:cNvSpPr txBox="1"/>
          <p:nvPr>
            <p:ph type="title"/>
          </p:nvPr>
        </p:nvSpPr>
        <p:spPr>
          <a:xfrm>
            <a:off x="600289" y="519160"/>
            <a:ext cx="6415106" cy="41001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600289" y="4811843"/>
            <a:ext cx="6415107" cy="1124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B94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B94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B94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4"/>
              </a:buClr>
              <a:buSzPts val="1600"/>
              <a:buNone/>
              <a:defRPr sz="1600">
                <a:solidFill>
                  <a:srgbClr val="888B94"/>
                </a:solidFill>
              </a:defRPr>
            </a:lvl9pPr>
          </a:lstStyle>
          <a:p/>
        </p:txBody>
      </p:sp>
      <p:sp>
        <p:nvSpPr>
          <p:cNvPr id="33" name="Google Shape;33;p32"/>
          <p:cNvSpPr/>
          <p:nvPr/>
        </p:nvSpPr>
        <p:spPr>
          <a:xfrm>
            <a:off x="0" y="1"/>
            <a:ext cx="303202" cy="434339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2"/>
          <p:cNvSpPr/>
          <p:nvPr>
            <p:ph idx="2" type="pic"/>
          </p:nvPr>
        </p:nvSpPr>
        <p:spPr>
          <a:xfrm>
            <a:off x="7206931" y="519161"/>
            <a:ext cx="4384780" cy="3824240"/>
          </a:xfrm>
          <a:prstGeom prst="rect">
            <a:avLst/>
          </a:prstGeom>
          <a:noFill/>
          <a:ln>
            <a:noFill/>
          </a:ln>
        </p:spPr>
      </p:sp>
      <p:pic>
        <p:nvPicPr>
          <p:cNvPr id="35" name="Google Shape;3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0019" y="5594299"/>
            <a:ext cx="117043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Subtitle Carolina Blue">
  <p:cSld name="Divider with Subtitle Carolina Blu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/>
          <p:nvPr/>
        </p:nvSpPr>
        <p:spPr>
          <a:xfrm flipH="1">
            <a:off x="1540933" y="0"/>
            <a:ext cx="10651067" cy="685799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3"/>
          <p:cNvSpPr txBox="1"/>
          <p:nvPr>
            <p:ph type="title"/>
          </p:nvPr>
        </p:nvSpPr>
        <p:spPr>
          <a:xfrm>
            <a:off x="2448156" y="1588958"/>
            <a:ext cx="9111759" cy="42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2448156" y="710534"/>
            <a:ext cx="911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33"/>
          <p:cNvPicPr preferRelativeResize="0"/>
          <p:nvPr/>
        </p:nvPicPr>
        <p:blipFill rotWithShape="1">
          <a:blip r:embed="rId2">
            <a:alphaModFix/>
          </a:blip>
          <a:srcRect b="-50002" l="1" r="140" t="50002"/>
          <a:stretch/>
        </p:blipFill>
        <p:spPr>
          <a:xfrm rot="-5400000">
            <a:off x="-1653669" y="2743200"/>
            <a:ext cx="466344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Subtitle White">
  <p:cSld name="Divider with Subtitle Whit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/>
          <p:nvPr/>
        </p:nvSpPr>
        <p:spPr>
          <a:xfrm>
            <a:off x="-1" y="0"/>
            <a:ext cx="1540933" cy="685799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2">
            <a:alphaModFix/>
          </a:blip>
          <a:srcRect b="-49335" l="70" r="70" t="49335"/>
          <a:stretch/>
        </p:blipFill>
        <p:spPr>
          <a:xfrm rot="-5400000">
            <a:off x="-1655064" y="2743200"/>
            <a:ext cx="466344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4"/>
          <p:cNvSpPr txBox="1"/>
          <p:nvPr>
            <p:ph type="title"/>
          </p:nvPr>
        </p:nvSpPr>
        <p:spPr>
          <a:xfrm>
            <a:off x="2448156" y="1588958"/>
            <a:ext cx="9111759" cy="42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2448156" y="710534"/>
            <a:ext cx="911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Subtitle Navy">
  <p:cSld name="Divider with Subtitle Nav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/>
          <p:nvPr/>
        </p:nvSpPr>
        <p:spPr>
          <a:xfrm>
            <a:off x="-7496" y="-39415"/>
            <a:ext cx="1540933" cy="6936827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35"/>
          <p:cNvPicPr preferRelativeResize="0"/>
          <p:nvPr/>
        </p:nvPicPr>
        <p:blipFill rotWithShape="1">
          <a:blip r:embed="rId2">
            <a:alphaModFix/>
          </a:blip>
          <a:srcRect b="-50002" l="70" r="70" t="50002"/>
          <a:stretch/>
        </p:blipFill>
        <p:spPr>
          <a:xfrm rot="-5400000">
            <a:off x="-1653415" y="2743200"/>
            <a:ext cx="466344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5"/>
          <p:cNvSpPr txBox="1"/>
          <p:nvPr>
            <p:ph type="title"/>
          </p:nvPr>
        </p:nvSpPr>
        <p:spPr>
          <a:xfrm>
            <a:off x="2448156" y="1588958"/>
            <a:ext cx="9111759" cy="428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" type="body"/>
          </p:nvPr>
        </p:nvSpPr>
        <p:spPr>
          <a:xfrm>
            <a:off x="2448156" y="710534"/>
            <a:ext cx="91117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Text White">
  <p:cSld name="Divider Large Text Whit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597408" y="2072640"/>
            <a:ext cx="10984993" cy="36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0"/>
              <a:buFont typeface="Arial"/>
              <a:buNone/>
              <a:defRPr sz="7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275" y="714693"/>
            <a:ext cx="265611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Text Carolina Blue">
  <p:cSld name="Divider Large Text Carolina Blu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/>
          <p:nvPr/>
        </p:nvSpPr>
        <p:spPr>
          <a:xfrm>
            <a:off x="0" y="-39414"/>
            <a:ext cx="12192000" cy="693682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7"/>
          <p:cNvPicPr preferRelativeResize="0"/>
          <p:nvPr/>
        </p:nvPicPr>
        <p:blipFill rotWithShape="1">
          <a:blip r:embed="rId2">
            <a:alphaModFix/>
          </a:blip>
          <a:srcRect b="0" l="-33" r="-33" t="0"/>
          <a:stretch/>
        </p:blipFill>
        <p:spPr>
          <a:xfrm>
            <a:off x="744274" y="714693"/>
            <a:ext cx="2656116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7"/>
          <p:cNvSpPr txBox="1"/>
          <p:nvPr>
            <p:ph type="title"/>
          </p:nvPr>
        </p:nvSpPr>
        <p:spPr>
          <a:xfrm>
            <a:off x="597408" y="2072640"/>
            <a:ext cx="10984993" cy="36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None/>
              <a:defRPr sz="7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Text Navy">
  <p:cSld name="Divider Large Text Nav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/>
          <p:nvPr/>
        </p:nvSpPr>
        <p:spPr>
          <a:xfrm>
            <a:off x="0" y="-49924"/>
            <a:ext cx="12192000" cy="695784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275" y="714693"/>
            <a:ext cx="265611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8"/>
          <p:cNvSpPr txBox="1"/>
          <p:nvPr>
            <p:ph type="title"/>
          </p:nvPr>
        </p:nvSpPr>
        <p:spPr>
          <a:xfrm>
            <a:off x="597408" y="2072640"/>
            <a:ext cx="10984993" cy="36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ial"/>
              <a:buNone/>
              <a:defRPr sz="7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Column">
  <p:cSld name="Content 1 Colum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609601" y="342900"/>
            <a:ext cx="1006222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9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9"/>
          <p:cNvSpPr txBox="1"/>
          <p:nvPr>
            <p:ph idx="1" type="body"/>
          </p:nvPr>
        </p:nvSpPr>
        <p:spPr>
          <a:xfrm>
            <a:off x="609601" y="1810319"/>
            <a:ext cx="10868660" cy="410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2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pos="4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2 Columns">
  <p:cSld name="Content with 2 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title"/>
          </p:nvPr>
        </p:nvSpPr>
        <p:spPr>
          <a:xfrm>
            <a:off x="609600" y="342900"/>
            <a:ext cx="100618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0"/>
          <p:cNvSpPr txBox="1"/>
          <p:nvPr>
            <p:ph idx="1" type="body"/>
          </p:nvPr>
        </p:nvSpPr>
        <p:spPr>
          <a:xfrm>
            <a:off x="609600" y="1810319"/>
            <a:ext cx="5281061" cy="4001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0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0"/>
          <p:cNvSpPr txBox="1"/>
          <p:nvPr>
            <p:ph idx="2" type="body"/>
          </p:nvPr>
        </p:nvSpPr>
        <p:spPr>
          <a:xfrm>
            <a:off x="6301339" y="1810319"/>
            <a:ext cx="5281061" cy="4001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3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 Left">
  <p:cSld name="Content with Photo Lef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/>
          <p:nvPr/>
        </p:nvSpPr>
        <p:spPr>
          <a:xfrm>
            <a:off x="0" y="6149487"/>
            <a:ext cx="12192000" cy="72390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1"/>
          <p:cNvSpPr txBox="1"/>
          <p:nvPr>
            <p:ph type="title"/>
          </p:nvPr>
        </p:nvSpPr>
        <p:spPr>
          <a:xfrm>
            <a:off x="612000" y="342900"/>
            <a:ext cx="10059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6" name="Google Shape;8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1"/>
          <p:cNvSpPr/>
          <p:nvPr>
            <p:ph idx="2" type="pic"/>
          </p:nvPr>
        </p:nvSpPr>
        <p:spPr>
          <a:xfrm>
            <a:off x="731520" y="1805619"/>
            <a:ext cx="3481892" cy="3855373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41"/>
          <p:cNvSpPr txBox="1"/>
          <p:nvPr>
            <p:ph idx="1" type="body"/>
          </p:nvPr>
        </p:nvSpPr>
        <p:spPr>
          <a:xfrm>
            <a:off x="4643719" y="1810319"/>
            <a:ext cx="6936282" cy="3855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1"/>
          <p:cNvSpPr txBox="1"/>
          <p:nvPr>
            <p:ph idx="3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41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 Right">
  <p:cSld name="Content with Photo Righ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/>
          <p:nvPr/>
        </p:nvSpPr>
        <p:spPr>
          <a:xfrm>
            <a:off x="9944098" y="3975100"/>
            <a:ext cx="2247902" cy="2882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2"/>
          <p:cNvSpPr txBox="1"/>
          <p:nvPr>
            <p:ph type="title"/>
          </p:nvPr>
        </p:nvSpPr>
        <p:spPr>
          <a:xfrm>
            <a:off x="619201" y="342900"/>
            <a:ext cx="1005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5" name="Google Shape;9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2"/>
          <p:cNvSpPr txBox="1"/>
          <p:nvPr>
            <p:ph idx="1" type="body"/>
          </p:nvPr>
        </p:nvSpPr>
        <p:spPr>
          <a:xfrm>
            <a:off x="619200" y="1810319"/>
            <a:ext cx="6803575" cy="4323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2"/>
          <p:cNvSpPr/>
          <p:nvPr>
            <p:ph idx="2" type="pic"/>
          </p:nvPr>
        </p:nvSpPr>
        <p:spPr>
          <a:xfrm>
            <a:off x="7915835" y="1456085"/>
            <a:ext cx="3656964" cy="4678015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42"/>
          <p:cNvSpPr txBox="1"/>
          <p:nvPr>
            <p:ph idx="3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42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Full Photo Right">
  <p:cSld name="Content with Full Photo Righ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3"/>
          <p:cNvSpPr txBox="1"/>
          <p:nvPr>
            <p:ph type="title"/>
          </p:nvPr>
        </p:nvSpPr>
        <p:spPr>
          <a:xfrm>
            <a:off x="611999" y="342900"/>
            <a:ext cx="699903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3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3"/>
          <p:cNvSpPr txBox="1"/>
          <p:nvPr>
            <p:ph idx="1" type="body"/>
          </p:nvPr>
        </p:nvSpPr>
        <p:spPr>
          <a:xfrm>
            <a:off x="611999" y="1810319"/>
            <a:ext cx="6999035" cy="3850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3"/>
          <p:cNvSpPr/>
          <p:nvPr>
            <p:ph idx="2" type="pic"/>
          </p:nvPr>
        </p:nvSpPr>
        <p:spPr>
          <a:xfrm>
            <a:off x="8256494" y="1"/>
            <a:ext cx="393550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43"/>
          <p:cNvSpPr txBox="1"/>
          <p:nvPr>
            <p:ph idx="3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rolina Blue">
  <p:cSld name="Content with Carolina Blu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/>
          <p:nvPr/>
        </p:nvSpPr>
        <p:spPr>
          <a:xfrm>
            <a:off x="9944098" y="0"/>
            <a:ext cx="2247901" cy="6858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4"/>
          <p:cNvSpPr txBox="1"/>
          <p:nvPr>
            <p:ph type="title"/>
          </p:nvPr>
        </p:nvSpPr>
        <p:spPr>
          <a:xfrm>
            <a:off x="619200" y="342900"/>
            <a:ext cx="83619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4"/>
          <p:cNvSpPr txBox="1"/>
          <p:nvPr>
            <p:ph idx="1" type="body"/>
          </p:nvPr>
        </p:nvSpPr>
        <p:spPr>
          <a:xfrm>
            <a:off x="619201" y="1810319"/>
            <a:ext cx="8361984" cy="3850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2" name="Google Shape;11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4" y="342900"/>
            <a:ext cx="8193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4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4"/>
          <p:cNvSpPr txBox="1"/>
          <p:nvPr>
            <p:ph idx="2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44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Navy">
  <p:cSld name="Content with Nav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5"/>
          <p:cNvSpPr/>
          <p:nvPr/>
        </p:nvSpPr>
        <p:spPr>
          <a:xfrm>
            <a:off x="9944100" y="-49924"/>
            <a:ext cx="2247900" cy="695784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619200" y="342900"/>
            <a:ext cx="83619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5"/>
          <p:cNvSpPr txBox="1"/>
          <p:nvPr>
            <p:ph idx="1" type="body"/>
          </p:nvPr>
        </p:nvSpPr>
        <p:spPr>
          <a:xfrm>
            <a:off x="619201" y="1810319"/>
            <a:ext cx="8361984" cy="3850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1" name="Google Shape;12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4" y="342900"/>
            <a:ext cx="819305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5"/>
          <p:cNvSpPr txBox="1"/>
          <p:nvPr>
            <p:ph idx="2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5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Large Photo">
  <p:cSld name="Content with Large Phot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/>
          <p:nvPr>
            <p:ph type="title"/>
          </p:nvPr>
        </p:nvSpPr>
        <p:spPr>
          <a:xfrm>
            <a:off x="612000" y="342900"/>
            <a:ext cx="10059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6" name="Google Shape;126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6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6"/>
          <p:cNvSpPr/>
          <p:nvPr>
            <p:ph idx="2" type="pic"/>
          </p:nvPr>
        </p:nvSpPr>
        <p:spPr>
          <a:xfrm>
            <a:off x="612000" y="1810319"/>
            <a:ext cx="10823255" cy="432378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6"/>
          <p:cNvSpPr txBox="1"/>
          <p:nvPr>
            <p:ph idx="1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46"/>
          <p:cNvSpPr/>
          <p:nvPr/>
        </p:nvSpPr>
        <p:spPr>
          <a:xfrm>
            <a:off x="731520" y="1355723"/>
            <a:ext cx="802640" cy="10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Blank Area">
  <p:cSld name="Content with Blank Area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619200" y="342900"/>
            <a:ext cx="100522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4" name="Google Shape;13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7"/>
          <p:cNvSpPr txBox="1"/>
          <p:nvPr>
            <p:ph idx="1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47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hoto">
  <p:cSld name="Full Photo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Photos">
  <p:cSld name="Content 2 Photo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9"/>
          <p:cNvSpPr/>
          <p:nvPr/>
        </p:nvSpPr>
        <p:spPr>
          <a:xfrm>
            <a:off x="9944100" y="6134100"/>
            <a:ext cx="2247900" cy="72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9"/>
          <p:cNvSpPr/>
          <p:nvPr>
            <p:ph idx="2" type="pic"/>
          </p:nvPr>
        </p:nvSpPr>
        <p:spPr>
          <a:xfrm>
            <a:off x="0" y="0"/>
            <a:ext cx="605028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49"/>
          <p:cNvSpPr/>
          <p:nvPr>
            <p:ph idx="3" type="pic"/>
          </p:nvPr>
        </p:nvSpPr>
        <p:spPr>
          <a:xfrm>
            <a:off x="6141720" y="0"/>
            <a:ext cx="6050280" cy="61341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9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Photos">
  <p:cSld name="Content 3 Photo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0"/>
          <p:cNvSpPr/>
          <p:nvPr>
            <p:ph idx="2" type="pic"/>
          </p:nvPr>
        </p:nvSpPr>
        <p:spPr>
          <a:xfrm>
            <a:off x="0" y="0"/>
            <a:ext cx="6050280" cy="338328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50"/>
          <p:cNvSpPr/>
          <p:nvPr>
            <p:ph idx="3" type="pic"/>
          </p:nvPr>
        </p:nvSpPr>
        <p:spPr>
          <a:xfrm>
            <a:off x="0" y="3474720"/>
            <a:ext cx="6050280" cy="338328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50"/>
          <p:cNvSpPr/>
          <p:nvPr>
            <p:ph idx="4" type="pic"/>
          </p:nvPr>
        </p:nvSpPr>
        <p:spPr>
          <a:xfrm>
            <a:off x="6141720" y="0"/>
            <a:ext cx="6050280" cy="6134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0"/>
          <p:cNvSpPr/>
          <p:nvPr/>
        </p:nvSpPr>
        <p:spPr>
          <a:xfrm>
            <a:off x="9944100" y="6134100"/>
            <a:ext cx="2247900" cy="72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0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 Photo Grid">
  <p:cSld name="Content 4 Photo Grid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1"/>
          <p:cNvSpPr/>
          <p:nvPr>
            <p:ph idx="2" type="pic"/>
          </p:nvPr>
        </p:nvSpPr>
        <p:spPr>
          <a:xfrm>
            <a:off x="0" y="-1"/>
            <a:ext cx="6050280" cy="324357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51"/>
          <p:cNvSpPr/>
          <p:nvPr>
            <p:ph idx="3" type="pic"/>
          </p:nvPr>
        </p:nvSpPr>
        <p:spPr>
          <a:xfrm>
            <a:off x="6141722" y="-1"/>
            <a:ext cx="6050280" cy="324357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51"/>
          <p:cNvSpPr/>
          <p:nvPr/>
        </p:nvSpPr>
        <p:spPr>
          <a:xfrm>
            <a:off x="9944100" y="6134100"/>
            <a:ext cx="2247900" cy="72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1"/>
          <p:cNvSpPr/>
          <p:nvPr>
            <p:ph idx="4" type="pic"/>
          </p:nvPr>
        </p:nvSpPr>
        <p:spPr>
          <a:xfrm>
            <a:off x="0" y="3335015"/>
            <a:ext cx="6050280" cy="2799085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51"/>
          <p:cNvSpPr/>
          <p:nvPr>
            <p:ph idx="5" type="pic"/>
          </p:nvPr>
        </p:nvSpPr>
        <p:spPr>
          <a:xfrm>
            <a:off x="6141722" y="3335015"/>
            <a:ext cx="6050280" cy="2799085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51"/>
          <p:cNvSpPr txBox="1"/>
          <p:nvPr/>
        </p:nvSpPr>
        <p:spPr>
          <a:xfrm>
            <a:off x="723900" y="6365245"/>
            <a:ext cx="64626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University, Division or Unit Name Goes Here</a:t>
            </a:r>
            <a:endParaRPr/>
          </a:p>
        </p:txBody>
      </p:sp>
      <p:sp>
        <p:nvSpPr>
          <p:cNvPr id="157" name="Google Shape;157;p51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 Photo Gallery">
  <p:cSld name="Content 4 Photo Galler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2"/>
          <p:cNvSpPr/>
          <p:nvPr/>
        </p:nvSpPr>
        <p:spPr>
          <a:xfrm>
            <a:off x="9944100" y="6134100"/>
            <a:ext cx="2247900" cy="72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2"/>
          <p:cNvSpPr/>
          <p:nvPr/>
        </p:nvSpPr>
        <p:spPr>
          <a:xfrm>
            <a:off x="-2" y="1459"/>
            <a:ext cx="4078388" cy="475854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9799" y="342900"/>
            <a:ext cx="819301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2"/>
          <p:cNvSpPr/>
          <p:nvPr>
            <p:ph idx="2" type="pic"/>
          </p:nvPr>
        </p:nvSpPr>
        <p:spPr>
          <a:xfrm>
            <a:off x="622337" y="337832"/>
            <a:ext cx="2286000" cy="2496808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52"/>
          <p:cNvSpPr/>
          <p:nvPr>
            <p:ph idx="3" type="pic"/>
          </p:nvPr>
        </p:nvSpPr>
        <p:spPr>
          <a:xfrm>
            <a:off x="3479314" y="337832"/>
            <a:ext cx="2387563" cy="2496808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52"/>
          <p:cNvSpPr/>
          <p:nvPr>
            <p:ph idx="4" type="pic"/>
          </p:nvPr>
        </p:nvSpPr>
        <p:spPr>
          <a:xfrm>
            <a:off x="0" y="3381822"/>
            <a:ext cx="5866878" cy="2752278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52"/>
          <p:cNvSpPr/>
          <p:nvPr>
            <p:ph idx="5" type="pic"/>
          </p:nvPr>
        </p:nvSpPr>
        <p:spPr>
          <a:xfrm>
            <a:off x="6443324" y="1495586"/>
            <a:ext cx="5765313" cy="463851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52"/>
          <p:cNvSpPr txBox="1"/>
          <p:nvPr>
            <p:ph idx="1" type="body"/>
          </p:nvPr>
        </p:nvSpPr>
        <p:spPr>
          <a:xfrm>
            <a:off x="609600" y="6388328"/>
            <a:ext cx="82415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52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  <p15:guide id="2" pos="7224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8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. And For All. Carolina Blue">
  <p:cSld name="First. And For All. Carolina Blu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3"/>
          <p:cNvSpPr/>
          <p:nvPr/>
        </p:nvSpPr>
        <p:spPr>
          <a:xfrm>
            <a:off x="0" y="-39414"/>
            <a:ext cx="12192000" cy="693682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671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locking NC with the tagline, “First. And For All.”" id="170" name="Google Shape;17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58113" y="2790499"/>
            <a:ext cx="7475774" cy="12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. And For All. White">
  <p:cSld name="First. And For All. White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locking NC with the tagline, “First. And For All.”" id="172" name="Google Shape;172;p54"/>
          <p:cNvPicPr preferRelativeResize="0"/>
          <p:nvPr/>
        </p:nvPicPr>
        <p:blipFill rotWithShape="1">
          <a:blip r:embed="rId2">
            <a:alphaModFix/>
          </a:blip>
          <a:srcRect b="0" l="-36" r="-36" t="0"/>
          <a:stretch/>
        </p:blipFill>
        <p:spPr>
          <a:xfrm>
            <a:off x="2358113" y="2790499"/>
            <a:ext cx="7475774" cy="12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. And For All. Navy">
  <p:cSld name="First. And For All. Nav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5"/>
          <p:cNvSpPr/>
          <p:nvPr/>
        </p:nvSpPr>
        <p:spPr>
          <a:xfrm>
            <a:off x="0" y="-39414"/>
            <a:ext cx="12192000" cy="693682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locking NC with the tagline, “First. And For All.”" id="175" name="Google Shape;17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58108" y="2790499"/>
            <a:ext cx="7475777" cy="12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with Signature CarolinaBlue">
  <p:cSld name="End Slide with Signature CarolinaBlu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6"/>
          <p:cNvSpPr/>
          <p:nvPr/>
        </p:nvSpPr>
        <p:spPr>
          <a:xfrm>
            <a:off x="0" y="0"/>
            <a:ext cx="12192000" cy="694733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671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e University of North Carolina at Chapel Hill" id="178" name="Google Shape;17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49064" y="2759825"/>
            <a:ext cx="4293867" cy="133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with Signature White">
  <p:cSld name="End Slide with Signature Whit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University of North Carolina at Chapel Hill" id="180" name="Google Shape;180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49065" y="2759825"/>
            <a:ext cx="4293870" cy="133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502919" y="650689"/>
            <a:ext cx="11186159" cy="1043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502920" y="1825625"/>
            <a:ext cx="11186160" cy="3786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981185" y="6174647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hyperlink" Target="https://emperorservers.com/game/assetto-cors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/>
          <p:nvPr>
            <p:ph type="title"/>
          </p:nvPr>
        </p:nvSpPr>
        <p:spPr>
          <a:xfrm>
            <a:off x="609600" y="1480134"/>
            <a:ext cx="10972800" cy="2533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80"/>
              <a:buFont typeface="Arial"/>
              <a:buNone/>
            </a:pPr>
            <a:r>
              <a:rPr lang="en-US" sz="5480"/>
              <a:t>Reframing Motorsport Visualization for Pitstop Strategy</a:t>
            </a:r>
            <a:endParaRPr sz="5480"/>
          </a:p>
        </p:txBody>
      </p:sp>
      <p:sp>
        <p:nvSpPr>
          <p:cNvPr id="187" name="Google Shape;187;p1"/>
          <p:cNvSpPr txBox="1"/>
          <p:nvPr>
            <p:ph idx="1" type="body"/>
          </p:nvPr>
        </p:nvSpPr>
        <p:spPr>
          <a:xfrm>
            <a:off x="609600" y="418110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Jake Ryals</a:t>
            </a:r>
            <a:endParaRPr/>
          </a:p>
        </p:txBody>
      </p:sp>
      <p:sp>
        <p:nvSpPr>
          <p:cNvPr id="188" name="Google Shape;188;p1"/>
          <p:cNvSpPr txBox="1"/>
          <p:nvPr>
            <p:ph idx="2" type="body"/>
          </p:nvPr>
        </p:nvSpPr>
        <p:spPr>
          <a:xfrm>
            <a:off x="617219" y="512937"/>
            <a:ext cx="542539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2026/04/09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609601" y="342900"/>
            <a:ext cx="1006222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609601" y="1810319"/>
            <a:ext cx="10868660" cy="410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many racing series, drivers must perform a pitstop to be able to finish the race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Due to fuel and tire </a:t>
            </a:r>
            <a:r>
              <a:rPr lang="en-US"/>
              <a:t>degradation</a:t>
            </a:r>
            <a:r>
              <a:rPr lang="en-US"/>
              <a:t> margins, there is usually a window of multiple laps during which the driver can decide to stop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Depending on the situation, which lap the stop is made on can significantly affect the race result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Decisions have to be made quickly, necessitating task optimized visualizations</a:t>
            </a:r>
            <a:endParaRPr/>
          </a:p>
        </p:txBody>
      </p:sp>
      <p:sp>
        <p:nvSpPr>
          <p:cNvPr id="195" name="Google Shape;195;p10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612000" y="342900"/>
            <a:ext cx="10059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Problems with Existing Visuals</a:t>
            </a:r>
            <a:endParaRPr/>
          </a:p>
        </p:txBody>
      </p:sp>
      <p:sp>
        <p:nvSpPr>
          <p:cNvPr id="201" name="Google Shape;201;p12"/>
          <p:cNvSpPr txBox="1"/>
          <p:nvPr>
            <p:ph idx="1" type="body"/>
          </p:nvPr>
        </p:nvSpPr>
        <p:spPr>
          <a:xfrm>
            <a:off x="4643719" y="1810319"/>
            <a:ext cx="6936282" cy="3855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Existing motorsport visualizations are difficult to parse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Data is often displayed in tabular form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Visualizations only show the gist of the data and are not </a:t>
            </a:r>
            <a:r>
              <a:rPr lang="en-US" sz="2400"/>
              <a:t>designed</a:t>
            </a:r>
            <a:r>
              <a:rPr lang="en-US" sz="2400"/>
              <a:t> to facilitate tasks necessary to make strategic decisions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 make decisions, users must bear significant cognitive load</a:t>
            </a:r>
            <a:endParaRPr sz="2400"/>
          </a:p>
        </p:txBody>
      </p:sp>
      <p:sp>
        <p:nvSpPr>
          <p:cNvPr id="202" name="Google Shape;202;p12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3" name="Google Shape;203;p12" title="old-vis-reference.png"/>
          <p:cNvPicPr preferRelativeResize="0"/>
          <p:nvPr/>
        </p:nvPicPr>
        <p:blipFill rotWithShape="1">
          <a:blip r:embed="rId3">
            <a:alphaModFix/>
          </a:blip>
          <a:srcRect b="9649" l="0" r="33678" t="20175"/>
          <a:stretch/>
        </p:blipFill>
        <p:spPr>
          <a:xfrm>
            <a:off x="731525" y="1805625"/>
            <a:ext cx="3481876" cy="185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" title="old-vis-reference.png"/>
          <p:cNvPicPr preferRelativeResize="0"/>
          <p:nvPr/>
        </p:nvPicPr>
        <p:blipFill rotWithShape="1">
          <a:blip r:embed="rId3">
            <a:alphaModFix/>
          </a:blip>
          <a:srcRect b="25279" l="66350" r="967" t="20323"/>
          <a:stretch/>
        </p:blipFill>
        <p:spPr>
          <a:xfrm>
            <a:off x="1830038" y="3662025"/>
            <a:ext cx="2383360" cy="1998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 txBox="1"/>
          <p:nvPr/>
        </p:nvSpPr>
        <p:spPr>
          <a:xfrm>
            <a:off x="708625" y="5755675"/>
            <a:ext cx="34818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Source: </a:t>
            </a:r>
            <a:r>
              <a:rPr lang="en-US" sz="1300" u="sng">
                <a:solidFill>
                  <a:schemeClr val="hlink"/>
                </a:solidFill>
                <a:hlinkClick r:id="rId4"/>
              </a:rPr>
              <a:t>Emperor Servers - Assetto Corsa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522b69568_0_18"/>
          <p:cNvSpPr txBox="1"/>
          <p:nvPr>
            <p:ph type="title"/>
          </p:nvPr>
        </p:nvSpPr>
        <p:spPr>
          <a:xfrm>
            <a:off x="609601" y="342900"/>
            <a:ext cx="10062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Methods </a:t>
            </a:r>
            <a:endParaRPr/>
          </a:p>
        </p:txBody>
      </p:sp>
      <p:sp>
        <p:nvSpPr>
          <p:cNvPr id="211" name="Google Shape;211;g3d522b69568_0_18"/>
          <p:cNvSpPr txBox="1"/>
          <p:nvPr>
            <p:ph idx="1" type="body"/>
          </p:nvPr>
        </p:nvSpPr>
        <p:spPr>
          <a:xfrm>
            <a:off x="609601" y="1810319"/>
            <a:ext cx="108687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Semistructured interviews with five esports racing drivers, determining: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tasks were relevant and difficult to accomplish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data is relevant to the tasks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Overall user preferences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Design Sheets - Used to assess feasibility and intuitiveness of visualization prototypes at low fidelity</a:t>
            </a:r>
            <a:endParaRPr/>
          </a:p>
        </p:txBody>
      </p:sp>
      <p:sp>
        <p:nvSpPr>
          <p:cNvPr id="212" name="Google Shape;212;g3d522b69568_0_18"/>
          <p:cNvSpPr txBox="1"/>
          <p:nvPr>
            <p:ph idx="12" type="sldNum"/>
          </p:nvPr>
        </p:nvSpPr>
        <p:spPr>
          <a:xfrm>
            <a:off x="8981185" y="6388328"/>
            <a:ext cx="270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522b69568_0_221"/>
          <p:cNvSpPr txBox="1"/>
          <p:nvPr>
            <p:ph type="title"/>
          </p:nvPr>
        </p:nvSpPr>
        <p:spPr>
          <a:xfrm>
            <a:off x="612000" y="342900"/>
            <a:ext cx="1005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Reframing the Track Map</a:t>
            </a:r>
            <a:endParaRPr/>
          </a:p>
        </p:txBody>
      </p:sp>
      <p:sp>
        <p:nvSpPr>
          <p:cNvPr id="218" name="Google Shape;218;g3d522b69568_0_221"/>
          <p:cNvSpPr txBox="1"/>
          <p:nvPr>
            <p:ph idx="12" type="sldNum"/>
          </p:nvPr>
        </p:nvSpPr>
        <p:spPr>
          <a:xfrm>
            <a:off x="8981185" y="6388328"/>
            <a:ext cx="270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9" name="Google Shape;219;g3d522b69568_0_221" title="daytona-map-1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0" y="2314909"/>
            <a:ext cx="1653161" cy="165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d522b69568_0_221"/>
          <p:cNvSpPr/>
          <p:nvPr/>
        </p:nvSpPr>
        <p:spPr>
          <a:xfrm>
            <a:off x="1071642" y="3274174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522b69568_0_412"/>
          <p:cNvSpPr txBox="1"/>
          <p:nvPr>
            <p:ph type="title"/>
          </p:nvPr>
        </p:nvSpPr>
        <p:spPr>
          <a:xfrm>
            <a:off x="612000" y="342900"/>
            <a:ext cx="1005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Reframing the Track Map</a:t>
            </a:r>
            <a:endParaRPr/>
          </a:p>
        </p:txBody>
      </p:sp>
      <p:sp>
        <p:nvSpPr>
          <p:cNvPr id="226" name="Google Shape;226;g3d522b69568_0_412"/>
          <p:cNvSpPr txBox="1"/>
          <p:nvPr>
            <p:ph idx="12" type="sldNum"/>
          </p:nvPr>
        </p:nvSpPr>
        <p:spPr>
          <a:xfrm>
            <a:off x="8981185" y="6388328"/>
            <a:ext cx="270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g3d522b69568_0_412" title="daytona-map-1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0" y="2314909"/>
            <a:ext cx="1653161" cy="165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d522b69568_0_412"/>
          <p:cNvSpPr/>
          <p:nvPr/>
        </p:nvSpPr>
        <p:spPr>
          <a:xfrm>
            <a:off x="2322657" y="2601992"/>
            <a:ext cx="19092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4"/>
              <a:t>Stretch into a circle</a:t>
            </a:r>
            <a:endParaRPr sz="1444"/>
          </a:p>
        </p:txBody>
      </p:sp>
      <p:sp>
        <p:nvSpPr>
          <p:cNvPr id="229" name="Google Shape;229;g3d522b69568_0_412"/>
          <p:cNvSpPr/>
          <p:nvPr/>
        </p:nvSpPr>
        <p:spPr>
          <a:xfrm>
            <a:off x="4394166" y="2331803"/>
            <a:ext cx="1653300" cy="1653300"/>
          </a:xfrm>
          <a:prstGeom prst="ellipse">
            <a:avLst/>
          </a:prstGeom>
          <a:noFill/>
          <a:ln cap="flat" cmpd="sng" w="29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sp>
        <p:nvSpPr>
          <p:cNvPr id="230" name="Google Shape;230;g3d522b69568_0_412"/>
          <p:cNvSpPr/>
          <p:nvPr/>
        </p:nvSpPr>
        <p:spPr>
          <a:xfrm>
            <a:off x="1071642" y="3274174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sp>
        <p:nvSpPr>
          <p:cNvPr id="231" name="Google Shape;231;g3d522b69568_0_412"/>
          <p:cNvSpPr/>
          <p:nvPr/>
        </p:nvSpPr>
        <p:spPr>
          <a:xfrm>
            <a:off x="5163950" y="3928172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cxnSp>
        <p:nvCxnSpPr>
          <p:cNvPr id="232" name="Google Shape;232;g3d522b69568_0_412"/>
          <p:cNvCxnSpPr/>
          <p:nvPr/>
        </p:nvCxnSpPr>
        <p:spPr>
          <a:xfrm flipH="1">
            <a:off x="5213767" y="2209954"/>
            <a:ext cx="14100" cy="284400"/>
          </a:xfrm>
          <a:prstGeom prst="straightConnector1">
            <a:avLst/>
          </a:prstGeom>
          <a:noFill/>
          <a:ln cap="flat" cmpd="sng" w="39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g3d522b69568_0_412"/>
          <p:cNvSpPr/>
          <p:nvPr/>
        </p:nvSpPr>
        <p:spPr>
          <a:xfrm rot="-891596">
            <a:off x="5291102" y="1711548"/>
            <a:ext cx="1533590" cy="64036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Opposite side of reference point</a:t>
            </a:r>
            <a:endParaRPr sz="113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522b69568_0_429"/>
          <p:cNvSpPr txBox="1"/>
          <p:nvPr>
            <p:ph type="title"/>
          </p:nvPr>
        </p:nvSpPr>
        <p:spPr>
          <a:xfrm>
            <a:off x="612000" y="342900"/>
            <a:ext cx="1005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Reframing the Track Map</a:t>
            </a:r>
            <a:endParaRPr/>
          </a:p>
        </p:txBody>
      </p:sp>
      <p:sp>
        <p:nvSpPr>
          <p:cNvPr id="239" name="Google Shape;239;g3d522b69568_0_429"/>
          <p:cNvSpPr txBox="1"/>
          <p:nvPr>
            <p:ph idx="12" type="sldNum"/>
          </p:nvPr>
        </p:nvSpPr>
        <p:spPr>
          <a:xfrm>
            <a:off x="8981185" y="6388328"/>
            <a:ext cx="270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g3d522b69568_0_429" title="daytona-map-1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0" y="2314909"/>
            <a:ext cx="1653161" cy="165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d522b69568_0_429"/>
          <p:cNvSpPr/>
          <p:nvPr/>
        </p:nvSpPr>
        <p:spPr>
          <a:xfrm>
            <a:off x="2322657" y="2601992"/>
            <a:ext cx="19092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4"/>
              <a:t>Stretch into a circle</a:t>
            </a:r>
            <a:endParaRPr sz="1444"/>
          </a:p>
        </p:txBody>
      </p:sp>
      <p:sp>
        <p:nvSpPr>
          <p:cNvPr id="242" name="Google Shape;242;g3d522b69568_0_429"/>
          <p:cNvSpPr/>
          <p:nvPr/>
        </p:nvSpPr>
        <p:spPr>
          <a:xfrm>
            <a:off x="4394166" y="2331803"/>
            <a:ext cx="1653300" cy="1653300"/>
          </a:xfrm>
          <a:prstGeom prst="ellipse">
            <a:avLst/>
          </a:prstGeom>
          <a:noFill/>
          <a:ln cap="flat" cmpd="sng" w="29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sp>
        <p:nvSpPr>
          <p:cNvPr id="243" name="Google Shape;243;g3d522b69568_0_429"/>
          <p:cNvSpPr/>
          <p:nvPr/>
        </p:nvSpPr>
        <p:spPr>
          <a:xfrm>
            <a:off x="1071642" y="3274174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sp>
        <p:nvSpPr>
          <p:cNvPr id="244" name="Google Shape;244;g3d522b69568_0_429"/>
          <p:cNvSpPr/>
          <p:nvPr/>
        </p:nvSpPr>
        <p:spPr>
          <a:xfrm>
            <a:off x="5163950" y="3928172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sp>
        <p:nvSpPr>
          <p:cNvPr id="245" name="Google Shape;245;g3d522b69568_0_429"/>
          <p:cNvSpPr/>
          <p:nvPr/>
        </p:nvSpPr>
        <p:spPr>
          <a:xfrm>
            <a:off x="6272559" y="2601992"/>
            <a:ext cx="19092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4"/>
              <a:t>Cut and flatten the Circle</a:t>
            </a:r>
            <a:endParaRPr sz="1444"/>
          </a:p>
        </p:txBody>
      </p:sp>
      <p:cxnSp>
        <p:nvCxnSpPr>
          <p:cNvPr id="246" name="Google Shape;246;g3d522b69568_0_429"/>
          <p:cNvCxnSpPr/>
          <p:nvPr/>
        </p:nvCxnSpPr>
        <p:spPr>
          <a:xfrm flipH="1">
            <a:off x="5213767" y="2209954"/>
            <a:ext cx="14100" cy="284400"/>
          </a:xfrm>
          <a:prstGeom prst="straightConnector1">
            <a:avLst/>
          </a:prstGeom>
          <a:noFill/>
          <a:ln cap="flat" cmpd="sng" w="39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g3d522b69568_0_429"/>
          <p:cNvSpPr/>
          <p:nvPr/>
        </p:nvSpPr>
        <p:spPr>
          <a:xfrm rot="-891596">
            <a:off x="5291102" y="1711548"/>
            <a:ext cx="1533590" cy="64036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5"/>
              <a:t>Opposite side of reference point</a:t>
            </a:r>
            <a:endParaRPr sz="1135"/>
          </a:p>
        </p:txBody>
      </p:sp>
      <p:cxnSp>
        <p:nvCxnSpPr>
          <p:cNvPr id="248" name="Google Shape;248;g3d522b69568_0_429"/>
          <p:cNvCxnSpPr/>
          <p:nvPr/>
        </p:nvCxnSpPr>
        <p:spPr>
          <a:xfrm flipH="1" rot="10800000">
            <a:off x="8399138" y="3144199"/>
            <a:ext cx="3021900" cy="8100"/>
          </a:xfrm>
          <a:prstGeom prst="straightConnector1">
            <a:avLst/>
          </a:prstGeom>
          <a:noFill/>
          <a:ln cap="flat" cmpd="sng" w="2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g3d522b69568_0_429"/>
          <p:cNvSpPr/>
          <p:nvPr/>
        </p:nvSpPr>
        <p:spPr>
          <a:xfrm>
            <a:off x="9853277" y="3091478"/>
            <a:ext cx="113700" cy="113700"/>
          </a:xfrm>
          <a:prstGeom prst="ellipse">
            <a:avLst/>
          </a:prstGeom>
          <a:solidFill>
            <a:srgbClr val="00FF00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25" lIns="94325" spcFirstLastPara="1" rIns="94325" wrap="square" tIns="9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4"/>
          </a:p>
        </p:txBody>
      </p:sp>
      <p:cxnSp>
        <p:nvCxnSpPr>
          <p:cNvPr id="250" name="Google Shape;250;g3d522b69568_0_429"/>
          <p:cNvCxnSpPr/>
          <p:nvPr/>
        </p:nvCxnSpPr>
        <p:spPr>
          <a:xfrm flipH="1">
            <a:off x="8385038" y="3006049"/>
            <a:ext cx="14100" cy="284400"/>
          </a:xfrm>
          <a:prstGeom prst="straightConnector1">
            <a:avLst/>
          </a:prstGeom>
          <a:noFill/>
          <a:ln cap="flat" cmpd="sng" w="39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g3d522b69568_0_429"/>
          <p:cNvCxnSpPr/>
          <p:nvPr/>
        </p:nvCxnSpPr>
        <p:spPr>
          <a:xfrm flipH="1">
            <a:off x="11421150" y="3006049"/>
            <a:ext cx="14100" cy="284400"/>
          </a:xfrm>
          <a:prstGeom prst="straightConnector1">
            <a:avLst/>
          </a:prstGeom>
          <a:noFill/>
          <a:ln cap="flat" cmpd="sng" w="39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g3d522b69568_0_429"/>
          <p:cNvSpPr/>
          <p:nvPr/>
        </p:nvSpPr>
        <p:spPr>
          <a:xfrm rot="-1929421">
            <a:off x="9865780" y="1846072"/>
            <a:ext cx="1850477" cy="1012132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2"/>
                </a:solidFill>
              </a:rPr>
              <a:t>Keep reference car in the center to simplify browsing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type="title"/>
          </p:nvPr>
        </p:nvSpPr>
        <p:spPr>
          <a:xfrm>
            <a:off x="609600" y="342900"/>
            <a:ext cx="100618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Data &amp; Design Considerations</a:t>
            </a:r>
            <a:endParaRPr/>
          </a:p>
        </p:txBody>
      </p:sp>
      <p:sp>
        <p:nvSpPr>
          <p:cNvPr id="258" name="Google Shape;258;p11"/>
          <p:cNvSpPr txBox="1"/>
          <p:nvPr>
            <p:ph idx="1" type="body"/>
          </p:nvPr>
        </p:nvSpPr>
        <p:spPr>
          <a:xfrm>
            <a:off x="609600" y="1810324"/>
            <a:ext cx="52812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Data: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Gap to Focused Car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Difference in Laptime</a:t>
            </a:r>
            <a:endParaRPr/>
          </a:p>
          <a:p>
            <a:pPr indent="0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Difference in Laps Completed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Laps Until Forced Pitstop</a:t>
            </a:r>
            <a:endParaRPr/>
          </a:p>
          <a:p>
            <a:pPr indent="-233363" lvl="0" marL="233363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Class of Car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Predicted exit after pitstop</a:t>
            </a:r>
            <a:endParaRPr/>
          </a:p>
        </p:txBody>
      </p:sp>
      <p:sp>
        <p:nvSpPr>
          <p:cNvPr id="259" name="Google Shape;259;p11"/>
          <p:cNvSpPr txBox="1"/>
          <p:nvPr>
            <p:ph idx="4294967295" type="body"/>
          </p:nvPr>
        </p:nvSpPr>
        <p:spPr>
          <a:xfrm>
            <a:off x="6301350" y="1810324"/>
            <a:ext cx="52812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Mapped To: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X position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Width of Mark - Coincides with future gap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Hue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Opacity/lightness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Shape</a:t>
            </a:r>
            <a:endParaRPr/>
          </a:p>
          <a:p>
            <a:pPr indent="-233363" lvl="0" marL="2333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Overlaid Rectangle</a:t>
            </a:r>
            <a:endParaRPr/>
          </a:p>
        </p:txBody>
      </p:sp>
      <p:sp>
        <p:nvSpPr>
          <p:cNvPr id="260" name="Google Shape;260;p11"/>
          <p:cNvSpPr txBox="1"/>
          <p:nvPr>
            <p:ph idx="12" type="sldNum"/>
          </p:nvPr>
        </p:nvSpPr>
        <p:spPr>
          <a:xfrm>
            <a:off x="8981185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755875" y="5598200"/>
            <a:ext cx="10712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Design choices were made to match user intuitions and prioritize salience of important data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type="title"/>
          </p:nvPr>
        </p:nvSpPr>
        <p:spPr>
          <a:xfrm>
            <a:off x="597408" y="2072640"/>
            <a:ext cx="10984993" cy="3633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0"/>
              <a:buFont typeface="Arial"/>
              <a:buNone/>
            </a:pPr>
            <a:r>
              <a:rPr lang="en-US"/>
              <a:t>Visualization Demonstration</a:t>
            </a:r>
            <a:endParaRPr/>
          </a:p>
        </p:txBody>
      </p:sp>
      <p:sp>
        <p:nvSpPr>
          <p:cNvPr id="267" name="Google Shape;267;p7"/>
          <p:cNvSpPr txBox="1"/>
          <p:nvPr>
            <p:ph idx="12" type="sldNum"/>
          </p:nvPr>
        </p:nvSpPr>
        <p:spPr>
          <a:xfrm>
            <a:off x="8970673" y="6388328"/>
            <a:ext cx="27078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522b69568_0_33"/>
          <p:cNvSpPr txBox="1"/>
          <p:nvPr>
            <p:ph type="title"/>
          </p:nvPr>
        </p:nvSpPr>
        <p:spPr>
          <a:xfrm>
            <a:off x="609601" y="342900"/>
            <a:ext cx="10062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Findings</a:t>
            </a:r>
            <a:endParaRPr/>
          </a:p>
        </p:txBody>
      </p:sp>
      <p:sp>
        <p:nvSpPr>
          <p:cNvPr id="273" name="Google Shape;273;g3d522b69568_0_33"/>
          <p:cNvSpPr txBox="1"/>
          <p:nvPr>
            <p:ph idx="1" type="body"/>
          </p:nvPr>
        </p:nvSpPr>
        <p:spPr>
          <a:xfrm>
            <a:off x="609601" y="1810319"/>
            <a:ext cx="108687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is difficult to successfully fit all relevant features into one visualization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a tradeoff between screen space and readability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Novel visualizations require additional effort to onboard new users</a:t>
            </a:r>
            <a:endParaRPr/>
          </a:p>
        </p:txBody>
      </p:sp>
      <p:sp>
        <p:nvSpPr>
          <p:cNvPr id="274" name="Google Shape;274;g3d522b69568_0_33"/>
          <p:cNvSpPr txBox="1"/>
          <p:nvPr>
            <p:ph idx="12" type="sldNum"/>
          </p:nvPr>
        </p:nvSpPr>
        <p:spPr>
          <a:xfrm>
            <a:off x="8981185" y="6388328"/>
            <a:ext cx="270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idx="4294967295" type="title"/>
          </p:nvPr>
        </p:nvSpPr>
        <p:spPr>
          <a:xfrm>
            <a:off x="502919" y="-1043639"/>
            <a:ext cx="11186159" cy="1043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End Slide 2 – White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UNC 2025">
      <a:dk1>
        <a:srgbClr val="13284B"/>
      </a:dk1>
      <a:lt1>
        <a:srgbClr val="FFFFFF"/>
      </a:lt1>
      <a:dk2>
        <a:srgbClr val="000000"/>
      </a:dk2>
      <a:lt2>
        <a:srgbClr val="DBEBF6"/>
      </a:lt2>
      <a:accent1>
        <a:srgbClr val="4B9CD3"/>
      </a:accent1>
      <a:accent2>
        <a:srgbClr val="13294B"/>
      </a:accent2>
      <a:accent3>
        <a:srgbClr val="B7D7ED"/>
      </a:accent3>
      <a:accent4>
        <a:srgbClr val="93C3E5"/>
      </a:accent4>
      <a:accent5>
        <a:srgbClr val="6FB0DC"/>
      </a:accent5>
      <a:accent6>
        <a:srgbClr val="E5E5E5"/>
      </a:accent6>
      <a:hlink>
        <a:srgbClr val="007FA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2018-12-12T18:27:48Z</dcterms:created>
  <dc:creator>Jacobs, Andrew</dc:creator>
</cp:coreProperties>
</file>